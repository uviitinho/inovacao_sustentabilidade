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uce Light" charset="1" panose="00000400000000000000"/>
      <p:regular r:id="rId13"/>
    </p:embeddedFont>
    <p:embeddedFont>
      <p:font typeface="Open Sauce Bold" charset="1" panose="00000800000000000000"/>
      <p:regular r:id="rId14"/>
    </p:embeddedFont>
    <p:embeddedFont>
      <p:font typeface="Open Sauce" charset="1" panose="00000500000000000000"/>
      <p:regular r:id="rId15"/>
    </p:embeddedFont>
    <p:embeddedFont>
      <p:font typeface="Open Sauce Italics" charset="1" panose="00000500000000000000"/>
      <p:regular r:id="rId16"/>
    </p:embeddedFont>
    <p:embeddedFont>
      <p:font typeface="Open Sauce Bold Italics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665930" y="9299744"/>
            <a:ext cx="7198065" cy="0"/>
          </a:xfrm>
          <a:prstGeom prst="line">
            <a:avLst/>
          </a:prstGeom>
          <a:ln cap="flat" w="9525">
            <a:solidFill>
              <a:srgbClr val="33180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2116435" y="861213"/>
            <a:ext cx="12324273" cy="2278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64"/>
              </a:lnSpc>
            </a:pPr>
            <a:r>
              <a:rPr lang="en-US" sz="19028" spc="-1807">
                <a:solidFill>
                  <a:srgbClr val="33180E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ZERO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58960" y="2721079"/>
            <a:ext cx="7671683" cy="2278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64"/>
              </a:lnSpc>
            </a:pPr>
            <a:r>
              <a:rPr lang="en-US" b="true" sz="19028" spc="-1807">
                <a:solidFill>
                  <a:srgbClr val="33180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FILA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3324" y="7102961"/>
            <a:ext cx="3636051" cy="220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sz="1599" spc="-47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MATHEUS BUENO NERI DE ARAUJO</a:t>
            </a:r>
          </a:p>
          <a:p>
            <a:pPr algn="l">
              <a:lnSpc>
                <a:spcPts val="1759"/>
              </a:lnSpc>
            </a:pPr>
          </a:p>
          <a:p>
            <a:pPr algn="l">
              <a:lnSpc>
                <a:spcPts val="1759"/>
              </a:lnSpc>
            </a:pPr>
            <a:r>
              <a:rPr lang="en-US" sz="1599" spc="-47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NATHAN ANAQUIM PROCACCIA</a:t>
            </a:r>
          </a:p>
          <a:p>
            <a:pPr algn="l">
              <a:lnSpc>
                <a:spcPts val="1759"/>
              </a:lnSpc>
            </a:pPr>
          </a:p>
          <a:p>
            <a:pPr algn="l">
              <a:lnSpc>
                <a:spcPts val="1759"/>
              </a:lnSpc>
            </a:pPr>
            <a:r>
              <a:rPr lang="en-US" sz="1599" spc="-47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VICTOR DA SILVA FRANÇA </a:t>
            </a:r>
          </a:p>
          <a:p>
            <a:pPr algn="l">
              <a:lnSpc>
                <a:spcPts val="1759"/>
              </a:lnSpc>
            </a:pPr>
          </a:p>
          <a:p>
            <a:pPr algn="l">
              <a:lnSpc>
                <a:spcPts val="1759"/>
              </a:lnSpc>
            </a:pPr>
            <a:r>
              <a:rPr lang="en-US" sz="1599" spc="-47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CAIO PISTORESI TRINDADE </a:t>
            </a:r>
          </a:p>
          <a:p>
            <a:pPr algn="l">
              <a:lnSpc>
                <a:spcPts val="1759"/>
              </a:lnSpc>
            </a:pPr>
          </a:p>
          <a:p>
            <a:pPr algn="l">
              <a:lnSpc>
                <a:spcPts val="1759"/>
              </a:lnSpc>
            </a:pPr>
            <a:r>
              <a:rPr lang="en-US" sz="1599" spc="-47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GUILHERME ARANTES NASCIMENTO</a:t>
            </a:r>
          </a:p>
          <a:p>
            <a:pPr algn="l">
              <a:lnSpc>
                <a:spcPts val="1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5326718" y="8931440"/>
            <a:ext cx="2537278" cy="229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9"/>
              </a:lnSpc>
            </a:pPr>
            <a:r>
              <a:rPr lang="en-US" sz="1599" spc="-47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12/06/2026</a:t>
            </a:r>
          </a:p>
        </p:txBody>
      </p:sp>
      <p:sp>
        <p:nvSpPr>
          <p:cNvPr name="AutoShape 7" id="7"/>
          <p:cNvSpPr/>
          <p:nvPr/>
        </p:nvSpPr>
        <p:spPr>
          <a:xfrm>
            <a:off x="6297172" y="4793167"/>
            <a:ext cx="5757636" cy="0"/>
          </a:xfrm>
          <a:prstGeom prst="line">
            <a:avLst/>
          </a:prstGeom>
          <a:ln cap="flat" w="38100">
            <a:solidFill>
              <a:srgbClr val="33180E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14496" y="5597345"/>
            <a:ext cx="4152274" cy="0"/>
          </a:xfrm>
          <a:prstGeom prst="line">
            <a:avLst/>
          </a:prstGeom>
          <a:ln cap="flat" w="9525">
            <a:solidFill>
              <a:srgbClr val="33180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5749473" cy="6841129"/>
            <a:chOff x="0" y="0"/>
            <a:chExt cx="7665964" cy="9121506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24787" t="0" r="24787" b="0"/>
            <a:stretch>
              <a:fillRect/>
            </a:stretch>
          </p:blipFill>
          <p:spPr>
            <a:xfrm flipH="false" flipV="false">
              <a:off x="0" y="0"/>
              <a:ext cx="7665964" cy="9121506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10915163" y="-36076"/>
            <a:ext cx="7538455" cy="3456641"/>
            <a:chOff x="0" y="0"/>
            <a:chExt cx="10051274" cy="4608854"/>
          </a:xfrm>
        </p:grpSpPr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0" t="6330" r="0" b="6330"/>
            <a:stretch>
              <a:fillRect/>
            </a:stretch>
          </p:blipFill>
          <p:spPr>
            <a:xfrm flipH="false" flipV="false">
              <a:off x="0" y="0"/>
              <a:ext cx="10051274" cy="4608854"/>
            </a:xfrm>
            <a:prstGeom prst="rect">
              <a:avLst/>
            </a:prstGeom>
          </p:spPr>
        </p:pic>
      </p:grpSp>
      <p:sp>
        <p:nvSpPr>
          <p:cNvPr name="TextBox 7" id="7"/>
          <p:cNvSpPr txBox="true"/>
          <p:nvPr/>
        </p:nvSpPr>
        <p:spPr>
          <a:xfrm rot="0">
            <a:off x="11028012" y="3762935"/>
            <a:ext cx="7044804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i="true" spc="-48">
                <a:solidFill>
                  <a:srgbClr val="33180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QUANTO TEMPO VOCÊ GASTA PROCURANDO VAGAS EM DIAS MOVIMENTADOS?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072557" y="5825108"/>
            <a:ext cx="7186743" cy="233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PERDA DE TEMPO;</a:t>
            </a: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Congestionamentos internos;</a:t>
            </a: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Estresse dos usuários;</a:t>
            </a: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Redução do faturamento dos estabelecimentos;</a:t>
            </a:r>
          </a:p>
          <a:p>
            <a:pPr algn="l" marL="474976" indent="-237488" lvl="1">
              <a:lnSpc>
                <a:spcPts val="2639"/>
              </a:lnSpc>
              <a:buFont typeface="Arial"/>
              <a:buChar char="•"/>
            </a:pPr>
            <a:r>
              <a:rPr lang="en-US" sz="2199" spc="-43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Aumento da emissão de poluentes.</a:t>
            </a:r>
          </a:p>
          <a:p>
            <a:pPr algn="l">
              <a:lnSpc>
                <a:spcPts val="263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2551" y="8001369"/>
            <a:ext cx="9474472" cy="1428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34"/>
              </a:lnSpc>
            </a:pPr>
            <a:r>
              <a:rPr lang="en-US" b="true" sz="11900" spc="-1130">
                <a:solidFill>
                  <a:srgbClr val="33180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 PROBLEMA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89076" y="1047750"/>
            <a:ext cx="4449152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i="true" spc="-48">
                <a:solidFill>
                  <a:srgbClr val="33180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JÁ DESISTIU DE COMPRAR OU ABANDONOU LOCAL POR CAUSA DE FILAS?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9410" y="3025839"/>
            <a:ext cx="7613764" cy="0"/>
          </a:xfrm>
          <a:prstGeom prst="line">
            <a:avLst/>
          </a:prstGeom>
          <a:ln cap="flat" w="9525">
            <a:solidFill>
              <a:srgbClr val="33180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69410" y="6859729"/>
            <a:ext cx="2451241" cy="2398571"/>
            <a:chOff x="0" y="0"/>
            <a:chExt cx="3268321" cy="319809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14682" t="0" r="14682" b="0"/>
            <a:stretch>
              <a:fillRect/>
            </a:stretch>
          </p:blipFill>
          <p:spPr>
            <a:xfrm flipH="false" flipV="false">
              <a:off x="0" y="0"/>
              <a:ext cx="3268321" cy="3198094"/>
            </a:xfrm>
            <a:prstGeom prst="rect">
              <a:avLst/>
            </a:prstGeom>
          </p:spPr>
        </p:pic>
      </p:grpSp>
      <p:sp>
        <p:nvSpPr>
          <p:cNvPr name="Freeform 5" id="5"/>
          <p:cNvSpPr/>
          <p:nvPr/>
        </p:nvSpPr>
        <p:spPr>
          <a:xfrm flipH="false" flipV="false" rot="0">
            <a:off x="10609644" y="754048"/>
            <a:ext cx="6022457" cy="8350027"/>
          </a:xfrm>
          <a:custGeom>
            <a:avLst/>
            <a:gdLst/>
            <a:ahLst/>
            <a:cxnLst/>
            <a:rect r="r" b="b" t="t" l="l"/>
            <a:pathLst>
              <a:path h="8350027" w="6022457">
                <a:moveTo>
                  <a:pt x="0" y="0"/>
                </a:moveTo>
                <a:lnTo>
                  <a:pt x="6022457" y="0"/>
                </a:lnTo>
                <a:lnTo>
                  <a:pt x="6022457" y="8350027"/>
                </a:lnTo>
                <a:lnTo>
                  <a:pt x="0" y="8350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69410" y="2272515"/>
            <a:ext cx="528944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i="true" spc="-48">
                <a:solidFill>
                  <a:srgbClr val="33180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O QUE É ZEROFILA 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9410" y="3451941"/>
            <a:ext cx="556766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spc="-37">
                <a:solidFill>
                  <a:srgbClr val="33180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ZEROFILA É UM SISTEMA INTELIGENTE DE MONITORAMENTO DE VAGAS EM TEMPO REAL.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596108"/>
            <a:ext cx="7988154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SISTEMA INTELIGENTE QUE MONITORA VAGAS DE ESTACIONAMENTO EM TEMPO REAL POR MEIO DE SENSORES AUTÔNOMOS CONECTADOS À NUVEM, FORNECENDO INFORMAÇÕES PARA MOTORISTAS ATRAVÉS DE UM APLICATIVO E PARA GESTORES POR MEIO DE UMA PLATAFORMA DE GERENCIAMENTO E ANÁLISE DE DADOS.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9410" y="844637"/>
            <a:ext cx="5700310" cy="100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4"/>
              </a:lnSpc>
            </a:pPr>
            <a:r>
              <a:rPr lang="en-US" b="true" sz="8504" spc="-807">
                <a:solidFill>
                  <a:srgbClr val="33180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SOLUÇÃO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04867" y="4304784"/>
            <a:ext cx="4302976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599" i="true" spc="-51">
                <a:solidFill>
                  <a:srgbClr val="33180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SENSORES MAGNÉTICOS INSTALADOS NAS VAGAS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47888" y="1163638"/>
            <a:ext cx="6078184" cy="1592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34"/>
              </a:lnSpc>
            </a:pPr>
            <a:r>
              <a:rPr lang="en-US" b="true" sz="13296" spc="-1263">
                <a:solidFill>
                  <a:srgbClr val="33180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04867" y="5385258"/>
            <a:ext cx="4302976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spc="-37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SENSORES DETECTAM SE A VAGA ESTÁ OCUPADA OU LIVRE.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938995" y="4295259"/>
            <a:ext cx="4302976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b="true" sz="2499" i="true" spc="-49">
                <a:solidFill>
                  <a:srgbClr val="33180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COMUNICAÇÃO SEM FIO VIA LORAWAN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38995" y="5242383"/>
            <a:ext cx="4302976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spc="-37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OS DADOS SÃO ENVIADOS VIA REDE LORAWAN E AS INFORMAÇÕES CHEGAM À NUVEM.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97965" y="4325104"/>
            <a:ext cx="4302976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400" i="true" spc="-48">
                <a:solidFill>
                  <a:srgbClr val="33180E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ALGORITMOS DE OCUPAÇÃO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597965" y="5138430"/>
            <a:ext cx="4302976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O APLICATIVO EXIBE AS VAGAS DISPONÍVEIS E</a:t>
            </a:r>
          </a:p>
          <a:p>
            <a:pPr algn="l">
              <a:lnSpc>
                <a:spcPts val="2159"/>
              </a:lnSpc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O sistema direciona o motorista até a vaga mais próxima.</a:t>
            </a:r>
          </a:p>
          <a:p>
            <a:pPr algn="l">
              <a:lnSpc>
                <a:spcPts val="215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1508" y="6628264"/>
            <a:ext cx="3078853" cy="2839586"/>
            <a:chOff x="0" y="0"/>
            <a:chExt cx="4105137" cy="3786115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13880" t="0" r="13880" b="0"/>
            <a:stretch>
              <a:fillRect/>
            </a:stretch>
          </p:blipFill>
          <p:spPr>
            <a:xfrm flipH="false" flipV="false">
              <a:off x="0" y="0"/>
              <a:ext cx="4105137" cy="3786115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0" y="0"/>
            <a:ext cx="6305985" cy="6418714"/>
            <a:chOff x="0" y="0"/>
            <a:chExt cx="8407980" cy="8558285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t="8966" r="0" b="8966"/>
            <a:stretch>
              <a:fillRect/>
            </a:stretch>
          </p:blipFill>
          <p:spPr>
            <a:xfrm flipH="false" flipV="false">
              <a:off x="0" y="0"/>
              <a:ext cx="8407980" cy="8558285"/>
            </a:xfrm>
            <a:prstGeom prst="rect">
              <a:avLst/>
            </a:prstGeom>
          </p:spPr>
        </p:pic>
      </p:grpSp>
      <p:sp>
        <p:nvSpPr>
          <p:cNvPr name="TextBox 6" id="6"/>
          <p:cNvSpPr txBox="true"/>
          <p:nvPr/>
        </p:nvSpPr>
        <p:spPr>
          <a:xfrm rot="0">
            <a:off x="10586516" y="1725930"/>
            <a:ext cx="3956801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spc="-37">
                <a:solidFill>
                  <a:srgbClr val="33180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ASSINATURAS MENSAIS RECORRENTES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94129" y="1047750"/>
            <a:ext cx="2152170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i="true" spc="-48">
                <a:solidFill>
                  <a:srgbClr val="33180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TANTO B2B QUANTO B2C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0831" y="8327591"/>
            <a:ext cx="5967814" cy="140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98"/>
              </a:lnSpc>
            </a:pPr>
            <a:r>
              <a:rPr lang="en-US" sz="11742" spc="-1115">
                <a:solidFill>
                  <a:srgbClr val="33180E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329" y="7009264"/>
            <a:ext cx="11011423" cy="140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98"/>
              </a:lnSpc>
            </a:pPr>
            <a:r>
              <a:rPr lang="en-US" b="true" sz="11742" spc="-1115">
                <a:solidFill>
                  <a:srgbClr val="33180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BUSINESS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27226" y="2755317"/>
            <a:ext cx="3956801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spc="-37">
                <a:solidFill>
                  <a:srgbClr val="33180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TAXA ÚNICA DE IMPLEMENTAÇÃO INICIAL (INSTALAÇÃO DE GATEWAYS E CALIBRAÇÃO DE SENSORES)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27226" y="4356205"/>
            <a:ext cx="3956801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b="true" sz="1899" spc="-37">
                <a:solidFill>
                  <a:srgbClr val="33180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VENDA CORPORATIVA E GOVERNAMENTAL DE PACOTES DE INSIGHTS DE TRÁFEGO AGREGADO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69410" y="2961000"/>
            <a:ext cx="7613764" cy="0"/>
          </a:xfrm>
          <a:prstGeom prst="line">
            <a:avLst/>
          </a:prstGeom>
          <a:ln cap="flat" w="9525">
            <a:solidFill>
              <a:srgbClr val="33180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028700" y="5029830"/>
            <a:ext cx="7613764" cy="0"/>
          </a:xfrm>
          <a:prstGeom prst="line">
            <a:avLst/>
          </a:prstGeom>
          <a:ln cap="flat" w="9525">
            <a:solidFill>
              <a:srgbClr val="33180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069410" y="7365360"/>
            <a:ext cx="7613764" cy="0"/>
          </a:xfrm>
          <a:prstGeom prst="line">
            <a:avLst/>
          </a:prstGeom>
          <a:ln cap="flat" w="9525">
            <a:solidFill>
              <a:srgbClr val="33180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9469081" y="2593074"/>
            <a:ext cx="7566749" cy="6053399"/>
          </a:xfrm>
          <a:custGeom>
            <a:avLst/>
            <a:gdLst/>
            <a:ahLst/>
            <a:cxnLst/>
            <a:rect r="r" b="b" t="t" l="l"/>
            <a:pathLst>
              <a:path h="6053399" w="7566749">
                <a:moveTo>
                  <a:pt x="0" y="0"/>
                </a:moveTo>
                <a:lnTo>
                  <a:pt x="7566749" y="0"/>
                </a:lnTo>
                <a:lnTo>
                  <a:pt x="7566749" y="6053399"/>
                </a:lnTo>
                <a:lnTo>
                  <a:pt x="0" y="60533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10120" y="2401883"/>
            <a:ext cx="528944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i="true" spc="-48">
                <a:solidFill>
                  <a:srgbClr val="33180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MOTORISTAS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9410" y="3175313"/>
            <a:ext cx="4102638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ECONOMIA DE TEMPO;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Menos estresse;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Melhor planejamento.</a:t>
            </a:r>
          </a:p>
          <a:p>
            <a:pPr algn="l">
              <a:lnSpc>
                <a:spcPts val="21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2295031" y="664277"/>
            <a:ext cx="15111538" cy="1005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4"/>
              </a:lnSpc>
            </a:pPr>
            <a:r>
              <a:rPr lang="en-US" b="true" sz="8504" spc="-807">
                <a:solidFill>
                  <a:srgbClr val="33180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COMO ISSO AGREGA VALOR 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9410" y="4470713"/>
            <a:ext cx="528944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i="true" spc="-48">
                <a:solidFill>
                  <a:srgbClr val="33180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EMPRESÁRIOS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244143"/>
            <a:ext cx="4596290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MAIOR FLUXO DE CLIENTES;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Melhor gestão do estacionamento;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Dados para tomada de decisão.</a:t>
            </a:r>
          </a:p>
          <a:p>
            <a:pPr algn="l">
              <a:lnSpc>
                <a:spcPts val="2159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10120" y="6806243"/>
            <a:ext cx="5289443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i="true" spc="-48">
                <a:solidFill>
                  <a:srgbClr val="33180E"/>
                </a:solidFill>
                <a:latin typeface="Open Sauce Italics"/>
                <a:ea typeface="Open Sauce Italics"/>
                <a:cs typeface="Open Sauce Italics"/>
                <a:sym typeface="Open Sauce Italics"/>
              </a:rPr>
              <a:t>SETOR PÚBLICO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9410" y="7579673"/>
            <a:ext cx="4596290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REDUÇÃO DO CONGESTIONAMENTO;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Melhor mobilidade urbana;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Menor impacto ambiental.</a:t>
            </a:r>
          </a:p>
          <a:p>
            <a:pPr algn="l" marL="388618" indent="-194309" lvl="1">
              <a:lnSpc>
                <a:spcPts val="2159"/>
              </a:lnSpc>
              <a:buFont typeface="Arial"/>
              <a:buChar char="•"/>
            </a:pPr>
            <a:r>
              <a:rPr lang="en-US" sz="1799" spc="-35">
                <a:solidFill>
                  <a:srgbClr val="33180E"/>
                </a:solidFill>
                <a:latin typeface="Open Sauce"/>
                <a:ea typeface="Open Sauce"/>
                <a:cs typeface="Open Sauce"/>
                <a:sym typeface="Open Sauce"/>
              </a:rPr>
              <a:t>POSSIBILIDADE DE ESCALAR SMART CITIES</a:t>
            </a:r>
          </a:p>
          <a:p>
            <a:pPr algn="l">
              <a:lnSpc>
                <a:spcPts val="215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19239" y="4523042"/>
            <a:ext cx="9649522" cy="171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4"/>
              </a:lnSpc>
            </a:pPr>
            <a:r>
              <a:rPr lang="en-US" b="true" sz="14400" spc="-1368">
                <a:solidFill>
                  <a:srgbClr val="33180E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OBRIGADO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DAHMHHiIq2Y</dc:identifier>
  <dcterms:modified xsi:type="dcterms:W3CDTF">2011-08-01T06:04:30Z</dcterms:modified>
  <cp:revision>1</cp:revision>
  <dc:title>Zerofila</dc:title>
</cp:coreProperties>
</file>